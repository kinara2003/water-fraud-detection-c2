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41148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Calibri"/>
              </a:defRPr>
            </a:pPr>
            <a:r>
              <a:t>NWSDB MUNICIPAL WATER RESEARCH INITIATIVE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AI-Driven Water Theft &amp; Fraud Surveillance Engine</a:t>
            </a:r>
          </a:p>
          <a:p>
            <a:pPr>
              <a:spcBef>
                <a:spcPts val="1000"/>
              </a:spcBef>
              <a:defRPr sz="1600">
                <a:solidFill>
                  <a:srgbClr val="38BDF8"/>
                </a:solidFill>
                <a:latin typeface="Calibri"/>
              </a:defRPr>
            </a:pPr>
            <a:r>
              <a:t>Physical Digital Twin Validation, Multi-Criteria Machine Learning &amp; Real-Time Decision-Support under Intermittent Water Supply (IWS)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23360"/>
            <a:ext cx="10362895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173736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1E293B"/>
                </a:solidFill>
                <a:latin typeface="Calibri"/>
              </a:rPr>
              <a:t>•  Candidate &amp; Author: </a:t>
            </a:r>
            <a:r>
              <a:rPr b="0" sz="1200">
                <a:solidFill>
                  <a:srgbClr val="334155"/>
                </a:solidFill>
                <a:latin typeface="Calibri"/>
              </a:rPr>
              <a:t>Postgraduate Researcher &amp; Lead System Architect (M.Sc. Candidate)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1E293B"/>
                </a:solidFill>
                <a:latin typeface="Calibri"/>
              </a:rPr>
              <a:t>•  University &amp; Faculty: </a:t>
            </a:r>
            <a:r>
              <a:rPr b="0" sz="1200">
                <a:solidFill>
                  <a:srgbClr val="334155"/>
                </a:solidFill>
                <a:latin typeface="Calibri"/>
              </a:rPr>
              <a:t>Faculty of Computing &amp; Graduate Studies -- Advanced Sensor &amp; Network Systems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1E293B"/>
                </a:solidFill>
                <a:latin typeface="Calibri"/>
              </a:rPr>
              <a:t>•  Industrial Partner &amp; Scheme: </a:t>
            </a:r>
            <a:r>
              <a:rPr b="0" sz="1200">
                <a:solidFill>
                  <a:srgbClr val="334155"/>
                </a:solidFill>
                <a:latin typeface="Calibri"/>
              </a:rPr>
              <a:t>National Water Supply and Drainage Board (NWSDB) -- Kaduwela Water Supply Scheme (DMAs 01 &amp; 02)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1E293B"/>
                </a:solidFill>
                <a:latin typeface="Calibri"/>
              </a:rPr>
              <a:t>•  Core Defense Contribution: </a:t>
            </a:r>
            <a:r>
              <a:rPr b="0" sz="1200">
                <a:solidFill>
                  <a:srgbClr val="334155"/>
                </a:solidFill>
                <a:latin typeface="Calibri"/>
              </a:rPr>
              <a:t>Physics-guided EPANET/WNTR twin + 2-stage AI eliminating 100% of IWS morning refill false alarms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NWSDB WATERGUARD (COMPONENT 2) -- ORAL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401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02/12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Calibri"/>
              </a:defRPr>
            </a:pPr>
            <a:r>
              <a:t>Problem Statement: The Intermittent Water Supply (IWS)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National Water Supply and Drainage Board (NWSDB) | Kaduwela Water Supply Scheme (DMA 01 &amp; DMA 02) | Component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5029200" cy="45720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Why Conventional Smart Meters Fail under IWS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Failure of Revenue Meters: </a:t>
            </a:r>
            <a:r>
              <a:rPr b="0" sz="1100">
                <a:solidFill>
                  <a:srgbClr val="334155"/>
                </a:solidFill>
                <a:latin typeface="Calibri"/>
              </a:rPr>
              <a:t>Household positive-displacement meters record zero consumption during unauthorized taps installed upstream of property boundary chambers.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Drained Pipe Re-Pressurization: </a:t>
            </a:r>
            <a:r>
              <a:rPr b="0" sz="1100">
                <a:solidFill>
                  <a:srgbClr val="334155"/>
                </a:solidFill>
                <a:latin typeface="Calibri"/>
              </a:rPr>
              <a:t>Under IWS (06:00-18:00 supply window), empty distribution pipes fill rapidly, causing air pockets that spin mechanical meters erratically or spin backward.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AMR/AMI Limitations: </a:t>
            </a:r>
            <a:r>
              <a:rPr b="0" sz="1100">
                <a:solidFill>
                  <a:srgbClr val="334155"/>
                </a:solidFill>
                <a:latin typeface="Calibri"/>
              </a:rPr>
              <a:t>Consumer-level smart meters detect meter tampering but fail entirely when illegal bypasses draw directly from public distribution feeder pipes.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Economic Severity: </a:t>
            </a:r>
            <a:r>
              <a:rPr b="0" sz="1100">
                <a:solidFill>
                  <a:srgbClr val="334155"/>
                </a:solidFill>
                <a:latin typeface="Calibri"/>
              </a:rPr>
              <a:t>Unmetered commercial and industrial withdrawals in Kaduwela East account for an estimated 28-34% of localized Non-Revenue Water (NRW).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029200" cy="45720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The False Alarm Bottleneck in Utility SCADA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Morning Refill Surges: </a:t>
            </a:r>
            <a:r>
              <a:rPr b="0" sz="1100">
                <a:solidFill>
                  <a:srgbClr val="334155"/>
                </a:solidFill>
                <a:latin typeface="Calibri"/>
              </a:rPr>
              <a:t>When distribution valves open at 06:00 AM, legitimate line filling creates massive localized head losses (ΔP &gt; 6-10 m) as empty mains recharge.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The False Alarm Paradox: </a:t>
            </a:r>
            <a:r>
              <a:rPr b="0" sz="1100">
                <a:solidFill>
                  <a:srgbClr val="334155"/>
                </a:solidFill>
                <a:latin typeface="Calibri"/>
              </a:rPr>
              <a:t>Naïve SCADA pressure thresholding (e.g. ΔP &gt; 3.0 m) flags 50-80% of normal morning refills as theft or pipe bursts.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Utility Fatigue: </a:t>
            </a:r>
            <a:r>
              <a:rPr b="0" sz="1100">
                <a:solidFill>
                  <a:srgbClr val="334155"/>
                </a:solidFill>
                <a:latin typeface="Calibri"/>
              </a:rPr>
              <a:t>Frequent false dispatch orders desensitize field enforcement officers, resulting in ignored genuine theft alerts.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Research Objective: </a:t>
            </a:r>
            <a:r>
              <a:rPr b="0" sz="1100">
                <a:solidFill>
                  <a:srgbClr val="334155"/>
                </a:solidFill>
                <a:latin typeface="Calibri"/>
              </a:rPr>
              <a:t>Develop a physics-guided digital twin framework that differentiates authentic unmetered theft from legitimate IWS hydraulic refill transients.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NWSDB WATERGUARD (COMPONENT 2) -- ORAL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401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03/12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Calibri"/>
              </a:defRPr>
            </a:pPr>
            <a:r>
              <a:t>Digital Twin Formulation: EPANET/WNTR Pressure-Dependent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National Water Supply and Drainage Board (NWSDB) | Kaduwela Water Supply Scheme (DMA 01 &amp; DMA 02) | Component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669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5486400" cy="45720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Hydraulic Formulation &amp; Network Structure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EPANET 2.2 / WNTR Engine: </a:t>
            </a:r>
            <a:r>
              <a:rPr b="0" sz="1100">
                <a:solidFill>
                  <a:srgbClr val="334155"/>
                </a:solidFill>
                <a:latin typeface="Calibri"/>
              </a:rPr>
              <a:t>Calibrated hydraulic twin executing Pressure-Dependent Demand (PDD) with Wagner's equation to eliminate unrealistic negative pressure anomalies.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Network Topology: </a:t>
            </a:r>
            <a:r>
              <a:rPr b="0" sz="1100">
                <a:solidFill>
                  <a:srgbClr val="334155"/>
                </a:solidFill>
                <a:latin typeface="Calibri"/>
              </a:rPr>
              <a:t>Extracted from NWSDB INP model: 3,904 junction nodes, 4,279 distribution pipes, 2 storage reservoirs, and 2 DMA boundary isolation valves.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DMA 01 (Commercial): </a:t>
            </a:r>
            <a:r>
              <a:rPr b="0" sz="1100">
                <a:solidFill>
                  <a:srgbClr val="334155"/>
                </a:solidFill>
                <a:latin typeface="Calibri"/>
              </a:rPr>
              <a:t>Heavily industrialized corridor along Kaduwela-Malabe main line; target node J_100 (elevation 12.0m, baseline head 34.7m).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DMA 02 (Residential): </a:t>
            </a:r>
            <a:r>
              <a:rPr b="0" sz="1100">
                <a:solidFill>
                  <a:srgbClr val="334155"/>
                </a:solidFill>
                <a:latin typeface="Calibri"/>
              </a:rPr>
              <a:t>Mixed residential/commercial zone served by dedicated boundary prvs; target nodes J_1200, J_2200, J_3000.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SCADA Sensor Deployment: </a:t>
            </a:r>
            <a:r>
              <a:rPr b="0" sz="1100">
                <a:solidFill>
                  <a:srgbClr val="334155"/>
                </a:solidFill>
                <a:latin typeface="Calibri"/>
              </a:rPr>
              <a:t>6 strategic pressure sensor concentrators monitoring critical hydraulic junctions across both DMAs at 15-minute sampling intervals.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1645920"/>
            <a:ext cx="21031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737360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0284C7"/>
                </a:solidFill>
              </a:defRPr>
            </a:pPr>
            <a:r>
              <a:t>3,904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Junction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645920"/>
            <a:ext cx="21031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737360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0284C7"/>
                </a:solidFill>
              </a:defRPr>
            </a:pPr>
            <a:r>
              <a:t>4,279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Distribution Pipes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108960"/>
            <a:ext cx="21031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200400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10B981"/>
                </a:solidFill>
              </a:defRPr>
            </a:pPr>
            <a:r>
              <a:t>6 Nodes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Designated SCADA Sensors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108960"/>
            <a:ext cx="21031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200400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10B981"/>
                </a:solidFill>
              </a:defRPr>
            </a:pPr>
            <a:r>
              <a:t>15 min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Sampling Interval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4480560"/>
            <a:ext cx="438912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457200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E293B"/>
                </a:solidFill>
              </a:defRPr>
            </a:pPr>
            <a:r>
              <a:t>Physical Validation Principle: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The digital twin mirrors operating baseline pressure P_expected at each junction in real time. Departures reflect unmetered physical consumption, not model drift.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NWSDB WATERGUARD (COMPONENT 2) -- ORAL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401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04/12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Calibri"/>
              </a:defRPr>
            </a:pPr>
            <a:r>
              <a:t>Feature Engineering: Physics-Guided Hydraulic Deficit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National Water Supply and Drainage Board (NWSDB) | Kaduwela Water Supply Scheme (DMA 01 &amp; DMA 02) | Component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5120640" cy="45720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Engineered Hydraulic Features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Hydraulic Residual (ΔP): </a:t>
            </a:r>
            <a:r>
              <a:rPr b="0" sz="1100">
                <a:solidFill>
                  <a:srgbClr val="334155"/>
                </a:solidFill>
                <a:latin typeface="Calibri"/>
              </a:rPr>
              <a:t>ΔP = P_expected - P_actual. Measures exact head loss deficit produced by unmetered branch withdrawals relative to digital twin physics.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Spatial Gradient Mismatch: </a:t>
            </a:r>
            <a:r>
              <a:rPr b="0" sz="1100">
                <a:solidFill>
                  <a:srgbClr val="334155"/>
                </a:solidFill>
                <a:latin typeface="Calibri"/>
              </a:rPr>
              <a:t>ΔP_spatial = ΔP_i - mean(ΔP_DMA). Isolates localized consumer theft from widespread diurnal network-level demand fluctuations.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Pressure Change Rate (dP/dt): </a:t>
            </a:r>
            <a:r>
              <a:rPr b="0" sz="1100">
                <a:solidFill>
                  <a:srgbClr val="334155"/>
                </a:solidFill>
                <a:latin typeface="Calibri"/>
              </a:rPr>
              <a:t>dP/dt = P_actual(t) - P_actual(t-1). Captures the sudden onset of commercial bypass valves vs gradual reservoir head decay.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Temporal Recurrence Memory: </a:t>
            </a:r>
            <a:r>
              <a:rPr b="0" sz="1100">
                <a:solidFill>
                  <a:srgbClr val="334155"/>
                </a:solidFill>
                <a:latin typeface="Calibri"/>
              </a:rPr>
              <a:t>Tracks repeated morning peak withdrawals across consecutive diurnal cycles to build persistence confidence.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Rolling Statistical Windows: </a:t>
            </a:r>
            <a:r>
              <a:rPr b="0" sz="1100">
                <a:solidFill>
                  <a:srgbClr val="334155"/>
                </a:solidFill>
                <a:latin typeface="Calibri"/>
              </a:rPr>
              <a:t>4-timestep rolling mean and standard deviation to filter out high-frequency hydraulic water hammer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4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75488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897879"/>
            <a:ext cx="47548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  <a:latin typeface="Calibri"/>
              </a:defRPr>
            </a:pPr>
            <a:r>
              <a:t>Figure 4: Decisive Dominance of Hydraulic Residual &amp; Spatial Deviation (&gt;75%)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NWSDB WATERGUARD (COMPONENT 2) -- ORAL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401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05/12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Calibri"/>
              </a:defRPr>
            </a:pPr>
            <a:r>
              <a:t>AI Architecture: Two-Stage Anomaly Isolation &amp; Root-Cause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National Water Supply and Drainage Board (NWSDB) | Kaduwela Water Supply Scheme (DMA 01 &amp; DMA 02) | Component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5029200" cy="45720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Stage 1: Isolation Forest (Anomaly Detector)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Objective: </a:t>
            </a:r>
            <a:r>
              <a:rPr b="0" sz="1100">
                <a:solidFill>
                  <a:srgbClr val="334155"/>
                </a:solidFill>
                <a:latin typeface="Calibri"/>
              </a:rPr>
              <a:t>Unsupervised Anomaly Detection: Detects any abnormal departure from physical twin baseline.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Training Regime: </a:t>
            </a:r>
            <a:r>
              <a:rPr b="0" sz="1100">
                <a:solidFill>
                  <a:srgbClr val="334155"/>
                </a:solidFill>
                <a:latin typeface="Calibri"/>
              </a:rPr>
              <a:t>Trained strictly on clean baseline normal operations (label == 'normal'). Eliminates reliance on scarce physical theft labels.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Operational Output: </a:t>
            </a:r>
            <a:r>
              <a:rPr b="0" sz="1100">
                <a:solidFill>
                  <a:srgbClr val="334155"/>
                </a:solidFill>
                <a:latin typeface="Calibri"/>
              </a:rPr>
              <a:t>Anomaly score = -1 (departure) or +1 (nominal); calibrated threshold on decision function.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Robustness: </a:t>
            </a:r>
            <a:r>
              <a:rPr b="0" sz="1100">
                <a:solidFill>
                  <a:srgbClr val="334155"/>
                </a:solidFill>
                <a:latin typeface="Calibri"/>
              </a:rPr>
              <a:t>Isolates unexpected pressure depressions without making premature assumptions about whether it is a leak or theft.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029200" cy="45720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Stage 2: Random Forest (Root-Cause Classifier)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Objective: </a:t>
            </a:r>
            <a:r>
              <a:rPr b="0" sz="1100">
                <a:solidFill>
                  <a:srgbClr val="334155"/>
                </a:solidFill>
                <a:latin typeface="Calibri"/>
              </a:rPr>
              <a:t>Supervised Root-Cause Classification: Discriminates between Physical Pipe Leak vs Commercial Bypass.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Class Taxonomy: </a:t>
            </a:r>
            <a:r>
              <a:rPr b="0" sz="1100">
                <a:solidFill>
                  <a:srgbClr val="334155"/>
                </a:solidFill>
                <a:latin typeface="Calibri"/>
              </a:rPr>
              <a:t>1. partial_bypass (Commercial / Industrial Theft)
2. leak (Physical Pipe Burst / Fracture)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Spatial Context: </a:t>
            </a:r>
            <a:r>
              <a:rPr b="0" sz="1100">
                <a:solidFill>
                  <a:srgbClr val="334155"/>
                </a:solidFill>
                <a:latin typeface="Calibri"/>
              </a:rPr>
              <a:t>Exploits spatial gradient mismatch: Bypasses produce concentrated head drops with steep local spatial gradients; leaks diffuse broadly.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Probabilistic Output: </a:t>
            </a:r>
            <a:r>
              <a:rPr b="0" sz="1100">
                <a:solidFill>
                  <a:srgbClr val="334155"/>
                </a:solidFill>
                <a:latin typeface="Calibri"/>
              </a:rPr>
              <a:t>Outputs confidence probabilities P(bypass) and P(leak) utilized by the downstream Multi-Criteria Risk Scoring Engine.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NWSDB WATERGUARD (COMPONENT 2) -- ORAL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401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06/12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Calibri"/>
              </a:defRPr>
            </a:pPr>
            <a:r>
              <a:t>0–100 Multi-Criteria Fraud Risk Engine &amp; IWS Transient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National Water Supply and Drainage Board (NWSDB) | Kaduwela Water Supply Scheme (DMA 01 &amp; DMA 02) | Component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846320" cy="45720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284C7"/>
                </a:solidFill>
                <a:latin typeface="Calibri"/>
              </a:defRPr>
            </a:pPr>
            <a:r>
              <a:t>100-Point Multi-Criteria Risk Scoring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1. Stage 1 Anomaly Flag: </a:t>
            </a:r>
            <a:r>
              <a:rPr b="0" sz="1050">
                <a:solidFill>
                  <a:srgbClr val="334155"/>
                </a:solidFill>
                <a:latin typeface="Calibri"/>
              </a:rPr>
              <a:t>+20 pts: Isolation Forest identifies abnormal pressure departure.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2. Hydraulic Severity: </a:t>
            </a:r>
            <a:r>
              <a:rPr b="0" sz="1050">
                <a:solidFill>
                  <a:srgbClr val="334155"/>
                </a:solidFill>
                <a:latin typeface="Calibri"/>
              </a:rPr>
              <a:t>+25 pts max: Proportional head loss deficit up to 10.0m (2.5 pts / meter).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3. Temporal Persistence: </a:t>
            </a:r>
            <a:r>
              <a:rPr b="0" sz="1050">
                <a:solidFill>
                  <a:srgbClr val="334155"/>
                </a:solidFill>
                <a:latin typeface="Calibri"/>
              </a:rPr>
              <a:t>+15 pts max: min(15, recurrence_count * 3) confirmed across morning peak cycles.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4. Stage 2 RF Confidence: </a:t>
            </a:r>
            <a:r>
              <a:rPr b="0" sz="1050">
                <a:solidFill>
                  <a:srgbClr val="334155"/>
                </a:solidFill>
                <a:latin typeface="Calibri"/>
              </a:rPr>
              <a:t>+25 pts max: P(partial_bypass) * 25 probability weighting.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5. Spatial DMA Gradient: </a:t>
            </a:r>
            <a:r>
              <a:rPr b="0" sz="1050">
                <a:solidFill>
                  <a:srgbClr val="334155"/>
                </a:solidFill>
                <a:latin typeface="Calibri"/>
              </a:rPr>
              <a:t>+15 pts: Localized mismatch exceeds DMA neighborhood threshold (&gt;= 0.50m).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IWS Morning Refill Filter: </a:t>
            </a:r>
            <a:r>
              <a:rPr b="0" sz="1050">
                <a:solidFill>
                  <a:srgbClr val="334155"/>
                </a:solidFill>
                <a:latin typeface="Calibri"/>
              </a:rPr>
              <a:t>Suppresses high-risk alerts during 06:00-07:00 supply window unless persistence AND spatial mismatch are confirmed.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53949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_iws_refill_vs_th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54480"/>
            <a:ext cx="5120640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5989320"/>
            <a:ext cx="5120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  <a:latin typeface="Calibri"/>
              </a:defRPr>
            </a:pPr>
            <a:r>
              <a:t>Figure 1: Legitimate IWS 06:00 Refill Surge (Panel A) vs. Afternoon Bypass Theft (Panel 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NWSDB WATERGUARD (COMPONENT 2) -- ORAL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401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07/12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Calibri"/>
              </a:defRPr>
            </a:pPr>
            <a:r>
              <a:t>Confusion Matrix &amp; Quantitative Benchmark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National Water Supply and Drainage Board (NWSDB) | Kaduwela Water Supply Scheme (DMA 01 &amp; DMA 02) | Component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0" cy="45720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284C7"/>
                </a:solidFill>
                <a:latin typeface="Calibri"/>
              </a:defRPr>
            </a:pPr>
            <a:r>
              <a:t>Benchmark vs Competing Architectures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Model A (Static Rule): </a:t>
            </a:r>
            <a:r>
              <a:rPr b="0" sz="1050">
                <a:solidFill>
                  <a:srgbClr val="334155"/>
                </a:solidFill>
                <a:latin typeface="Calibri"/>
              </a:rPr>
              <a:t>Static ΔP &gt; 3.0m rule triggers on 51.4% of morning refill surges; F1 = 0.052.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Model B (Single-Stage SVM): </a:t>
            </a:r>
            <a:r>
              <a:rPr b="0" sz="1050">
                <a:solidFill>
                  <a:srgbClr val="334155"/>
                </a:solidFill>
                <a:latin typeface="Calibri"/>
              </a:rPr>
              <a:t>Lacks operational context; misclassifies 87.7% of refill surges as theft; F1 = 0.052.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Model C (3-Layer MLP): </a:t>
            </a:r>
            <a:r>
              <a:rPr b="0" sz="1050">
                <a:solidFill>
                  <a:srgbClr val="334155"/>
                </a:solidFill>
                <a:latin typeface="Calibri"/>
              </a:rPr>
              <a:t>Deep neural baseline triggers on 68.5% of refill pressure dips; F1 = 0.052.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Model D (Proposed System): </a:t>
            </a:r>
            <a:r>
              <a:rPr b="0" sz="1050">
                <a:solidFill>
                  <a:srgbClr val="334155"/>
                </a:solidFill>
                <a:latin typeface="Calibri"/>
              </a:rPr>
              <a:t>Achieves 0.0% False Positive Rate during morning refill (100% false alarm reduction) with 89.4% Precision and F1 = 0.778.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Confusion Matrix Breakdown: </a:t>
            </a:r>
            <a:r>
              <a:rPr b="0" sz="1050">
                <a:solidFill>
                  <a:srgbClr val="334155"/>
                </a:solidFill>
                <a:latin typeface="Calibri"/>
              </a:rPr>
              <a:t>Partial Bypass Precision: 89.1%, Recall: 72.5%, F1: 80.0%, FPR: 4.0%; Pipe Leak F1: 78.6%.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Real-Time Latency: </a:t>
            </a:r>
            <a:r>
              <a:rPr b="0" sz="1050">
                <a:solidFill>
                  <a:srgbClr val="334155"/>
                </a:solidFill>
                <a:latin typeface="Calibri"/>
              </a:rPr>
              <a:t>Inference execution is 0.0088 ms/sample (sub-millisecond budget for 15-min SCADA polling).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371600"/>
            <a:ext cx="56692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del_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44752"/>
            <a:ext cx="5394960" cy="18745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7880" y="3364991"/>
            <a:ext cx="53949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  <a:latin typeface="Calibri"/>
              </a:defRPr>
            </a:pPr>
            <a:r>
              <a:t>Comparative Benchmark: Detection F1, Refill False Alarm Rate (0.0% vs 51.4%), and Inference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3703320"/>
            <a:ext cx="3200400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767328"/>
            <a:ext cx="2926080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97880" y="5961888"/>
            <a:ext cx="2926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  <a:latin typeface="Calibri"/>
              </a:defRPr>
            </a:pPr>
            <a:r>
              <a:t>Confusion Matrix (Normal, Leak, Partial Bypass)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703320"/>
            <a:ext cx="2286000" cy="2514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3794760"/>
            <a:ext cx="219456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b="1" sz="1700">
                <a:solidFill>
                  <a:srgbClr val="10B981"/>
                </a:solidFill>
              </a:defRPr>
            </a:pPr>
            <a:r>
              <a:t>0.0%</a:t>
            </a:r>
          </a:p>
          <a:p>
            <a:pPr algn="ctr">
              <a:spcAft>
                <a:spcPts val="400"/>
              </a:spcAft>
              <a:defRPr sz="850" b="1">
                <a:solidFill>
                  <a:srgbClr val="64748B"/>
                </a:solidFill>
              </a:defRPr>
            </a:pPr>
            <a:r>
              <a:t>Refill False Alarms</a:t>
            </a:r>
          </a:p>
          <a:p>
            <a:pPr algn="ctr">
              <a:spcBef>
                <a:spcPts val="400"/>
              </a:spcBef>
              <a:defRPr b="1" sz="1700">
                <a:solidFill>
                  <a:srgbClr val="0284C7"/>
                </a:solidFill>
              </a:defRPr>
            </a:pPr>
            <a:r>
              <a:t>89.1%</a:t>
            </a:r>
          </a:p>
          <a:p>
            <a:pPr algn="ctr">
              <a:spcAft>
                <a:spcPts val="400"/>
              </a:spcAft>
              <a:defRPr sz="850" b="1">
                <a:solidFill>
                  <a:srgbClr val="64748B"/>
                </a:solidFill>
              </a:defRPr>
            </a:pPr>
            <a:r>
              <a:t>Bypass Precision</a:t>
            </a:r>
          </a:p>
          <a:p>
            <a:pPr algn="ctr">
              <a:spcBef>
                <a:spcPts val="400"/>
              </a:spcBef>
              <a:defRPr b="1" sz="1700">
                <a:solidFill>
                  <a:srgbClr val="1E293B"/>
                </a:solidFill>
              </a:defRPr>
            </a:pPr>
            <a:r>
              <a:t>0.0088 ms</a:t>
            </a:r>
          </a:p>
          <a:p>
            <a:pPr algn="ctr">
              <a:spcAft>
                <a:spcPts val="400"/>
              </a:spcAft>
              <a:defRPr sz="850" b="1">
                <a:solidFill>
                  <a:srgbClr val="64748B"/>
                </a:solidFill>
              </a:defRPr>
            </a:pPr>
            <a:r>
              <a:t>Inference Latency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NWSDB WATERGUARD (COMPONENT 2) -- ORAL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401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08/12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Calibri"/>
              </a:defRPr>
            </a:pPr>
            <a:r>
              <a:t>Cross-Component Ecosystem Integration: C1, C3, and C4 Interfacing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National Water Supply and Drainage Board (NWSDB) | Kaduwela Water Supply Scheme (DMA 01 &amp; DMA 02) | Component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7472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Component 1 (C1)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Acoustic Leak 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3291840" cy="384048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REST Contract: </a:t>
            </a:r>
            <a:r>
              <a:rPr b="0" sz="1050">
                <a:solidFill>
                  <a:srgbClr val="334155"/>
                </a:solidFill>
                <a:latin typeface="Calibri"/>
              </a:rPr>
              <a:t>POST /api/v1/c1-leak-feedback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Cross-Validation: </a:t>
            </a:r>
            <a:r>
              <a:rPr b="0" sz="1050">
                <a:solidFill>
                  <a:srgbClr val="334155"/>
                </a:solidFill>
                <a:latin typeface="Calibri"/>
              </a:rPr>
              <a:t>When C1 acoustic sensor detects pipe fracture (P_leak &gt; 0.70), fraud score drops by 40%.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Operational Impact: </a:t>
            </a:r>
            <a:r>
              <a:rPr b="0" sz="1050">
                <a:solidFill>
                  <a:srgbClr val="334155"/>
                </a:solidFill>
                <a:latin typeface="Calibri"/>
              </a:rPr>
              <a:t>Suppresses false theft accusation; dispatches emergency pipe repair clamp squad instead.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71600"/>
            <a:ext cx="34747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371600"/>
            <a:ext cx="3474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Component 3 (C3)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Storage Water Loss 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3291840" cy="384048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REST Contract: </a:t>
            </a:r>
            <a:r>
              <a:rPr b="0" sz="1050">
                <a:solidFill>
                  <a:srgbClr val="334155"/>
                </a:solidFill>
                <a:latin typeface="Calibri"/>
              </a:rPr>
              <a:t>GET /api/v1/c3-water-loss/{zone}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Volumetric Translation: </a:t>
            </a:r>
            <a:r>
              <a:rPr b="0" sz="1050">
                <a:solidFill>
                  <a:srgbClr val="334155"/>
                </a:solidFill>
                <a:latin typeface="Calibri"/>
              </a:rPr>
              <a:t>Converts detected bypass head drop into volumetric water loss (LPS &amp; m³/day).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Operational Impact: </a:t>
            </a:r>
            <a:r>
              <a:rPr b="0" sz="1050">
                <a:solidFill>
                  <a:srgbClr val="334155"/>
                </a:solidFill>
                <a:latin typeface="Calibri"/>
              </a:rPr>
              <a:t>Directly updates municipal storage reservoir depletion curves and pumping schedules.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4747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4747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Component 4 (C4)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Water Quality Depressurization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40280"/>
            <a:ext cx="3291840" cy="384048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REST Contract: </a:t>
            </a:r>
            <a:r>
              <a:rPr b="0" sz="1050">
                <a:solidFill>
                  <a:srgbClr val="334155"/>
                </a:solidFill>
                <a:latin typeface="Calibri"/>
              </a:rPr>
              <a:t>GET /api/v1/c4-pressure-drop-events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Contamination Risk: </a:t>
            </a:r>
            <a:r>
              <a:rPr b="0" sz="1050">
                <a:solidFill>
                  <a:srgbClr val="334155"/>
                </a:solidFill>
                <a:latin typeface="Calibri"/>
              </a:rPr>
              <a:t>Monitors severe depressurization (P &lt; 5.0m) creating back-siphonage risk.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050">
                <a:solidFill>
                  <a:srgbClr val="1E293B"/>
                </a:solidFill>
                <a:latin typeface="Calibri"/>
              </a:rPr>
              <a:t>•  Operational Impact: </a:t>
            </a:r>
            <a:r>
              <a:rPr b="0" sz="1050">
                <a:solidFill>
                  <a:srgbClr val="334155"/>
                </a:solidFill>
                <a:latin typeface="Calibri"/>
              </a:rPr>
              <a:t>Alerts water quality taskforce for pathogen infiltration sampling near bypass nodes.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NWSDB WATERGUARD (COMPONENT 2) -- ORAL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401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09/12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Calibri"/>
              </a:defRPr>
            </a:pPr>
            <a:r>
              <a:t>React Operator Dashboard &amp; Geo-Spatial Inspection 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National Water Supply and Drainage Board (NWSDB) | Kaduwela Water Supply Scheme (DMA 01 &amp; DMA 02) | Component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5120640" cy="45720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Surveillance Dashboard Features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Full-Stack Modern Architecture: </a:t>
            </a:r>
            <a:r>
              <a:rPr b="0" sz="1100">
                <a:solidFill>
                  <a:srgbClr val="334155"/>
                </a:solidFill>
                <a:latin typeface="Calibri"/>
              </a:rPr>
              <a:t>Vite + React 18 + TypeScript frontend backed by FastAPI REST API and WebSocket streaming.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Interactive Leaflet GIS Map: </a:t>
            </a:r>
            <a:r>
              <a:rPr b="0" sz="1100">
                <a:solidFill>
                  <a:srgbClr val="334155"/>
                </a:solidFill>
                <a:latin typeface="Calibri"/>
              </a:rPr>
              <a:t>Visualizes 3,904 WGS84 junctions and 4,279 pipes; color-codes monitored nodes by risk level (Green, Amber, Critical Red).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Forensic Evidence Panel: </a:t>
            </a:r>
            <a:r>
              <a:rPr b="0" sz="1100">
                <a:solidFill>
                  <a:srgbClr val="334155"/>
                </a:solidFill>
                <a:latin typeface="Calibri"/>
              </a:rPr>
              <a:t>Displays automated 5-point evidence checklist explaining why the AI flagged the node.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Automated Authority Alerting: </a:t>
            </a:r>
            <a:r>
              <a:rPr b="0" sz="1100">
                <a:solidFill>
                  <a:srgbClr val="334155"/>
                </a:solidFill>
                <a:latin typeface="Calibri"/>
              </a:rPr>
              <a:t>Dispatches instant municipal email &amp; webhook alerts containing WGS84 GPS coordinates and Google Maps navigation links.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Human-in-the-Loop Inspection Loop: </a:t>
            </a:r>
            <a:r>
              <a:rPr b="0" sz="1100">
                <a:solidFill>
                  <a:srgbClr val="334155"/>
                </a:solidFill>
                <a:latin typeface="Calibri"/>
              </a:rPr>
              <a:t>Field inspectors record ground-truth findings (Confirmed Bypass, Confirmed Leak, False Alarm) directly updating PPV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2_spatial_delta_d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484632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5943600"/>
            <a:ext cx="48463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  <a:latin typeface="Calibri"/>
              </a:defRPr>
            </a:pPr>
            <a:r>
              <a:t>Figure 2: Differential Spatial Gradient between DMA 01 (Theft) and DMA 02 (Control)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NWSDB WATERGUARD (COMPONENT 2) -- ORAL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401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10/12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Calibri"/>
              </a:defRPr>
            </a:pPr>
            <a:r>
              <a:t>Field Telemetry Resilience &amp; Edge Gateway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National Water Supply and Drainage Board (NWSDB) | Kaduwela Water Supply Scheme (DMA 01 &amp; DMA 02) | Component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5029200" cy="45720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Edge Gateway Sim (src/edge_gateway_sim.py)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Deadband Filtering: </a:t>
            </a:r>
            <a:r>
              <a:rPr b="0" sz="1100">
                <a:solidFill>
                  <a:srgbClr val="334155"/>
                </a:solidFill>
                <a:latin typeface="Calibri"/>
              </a:rPr>
              <a:t>Suppresses telemetry transmission if |ΔP| &lt; 0.05m to conserve cellular bandwidth and battery life (transmits 60-min heartbeat).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Store-and-Forward Buffer: </a:t>
            </a:r>
            <a:r>
              <a:rPr b="0" sz="1100">
                <a:solidFill>
                  <a:srgbClr val="334155"/>
                </a:solidFill>
                <a:latin typeface="Calibri"/>
              </a:rPr>
              <a:t>If cellular network drops, telemetry queues in local SQLite buffer (edge_buffer.db); auto-flushes in FIFO order upon reconnection.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Battery &amp; RSSI Telemetry: </a:t>
            </a:r>
            <a:r>
              <a:rPr b="0" sz="1100">
                <a:solidFill>
                  <a:srgbClr val="334155"/>
                </a:solidFill>
                <a:latin typeface="Calibri"/>
              </a:rPr>
              <a:t>Attaches real-time battery voltage (3.4-4.2V) and cellular signal quality (dBm) to each SCADA packet.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Zero Telemetry Loss: </a:t>
            </a:r>
            <a:r>
              <a:rPr b="0" sz="1100">
                <a:solidFill>
                  <a:srgbClr val="334155"/>
                </a:solidFill>
                <a:latin typeface="Calibri"/>
              </a:rPr>
              <a:t>Verified in resilience testing: zero data points lost during 30-second complete backend container disconnection.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029200" cy="45720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Server-Side Telemetry Imputation &amp; Health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Missing Data Imputation: </a:t>
            </a:r>
            <a:r>
              <a:rPr b="0" sz="1100">
                <a:solidFill>
                  <a:srgbClr val="334155"/>
                </a:solidFill>
                <a:latin typeface="Calibri"/>
              </a:rPr>
              <a:t>FastAPI backend handles 10-30% packet loss via forward-fill and linear interpolation guided by the digital twin slope.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False Alarm Suppression: </a:t>
            </a:r>
            <a:r>
              <a:rPr b="0" sz="1100">
                <a:solidFill>
                  <a:srgbClr val="334155"/>
                </a:solidFill>
                <a:latin typeface="Calibri"/>
              </a:rPr>
              <a:t>Imputation prevents erroneous artificial residual spikes during packet loss periods.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Sensor Health Warning: </a:t>
            </a:r>
            <a:r>
              <a:rPr b="0" sz="1100">
                <a:solidFill>
                  <a:srgbClr val="334155"/>
                </a:solidFill>
                <a:latin typeface="Calibri"/>
              </a:rPr>
              <a:t>Automatically flags hardware warning if consecutive missing cycles exceed 3 intervals (45 minutes).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Stuck Sensor Override: </a:t>
            </a:r>
            <a:r>
              <a:rPr b="0" sz="1100">
                <a:solidFill>
                  <a:srgbClr val="334155"/>
                </a:solidFill>
                <a:latin typeface="Calibri"/>
              </a:rPr>
              <a:t>Detects mechanically locked transducers (e.g. constant 18.0m) and suppresses false theft accusations.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NWSDB WATERGUARD (COMPONENT 2) -- ORAL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401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11/12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Calibri"/>
              </a:defRPr>
            </a:pPr>
            <a:r>
              <a:t>Operational Boundaries, Ethics &amp; 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National Water Supply and Drainage Board (NWSDB) | Kaduwela Water Supply Scheme (DMA 01 &amp; DMA 02) | Component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5029200" cy="45720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Ethical Boundaries &amp; Accountability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Decision-Support Principle: </a:t>
            </a:r>
            <a:r>
              <a:rPr b="0" sz="1100">
                <a:solidFill>
                  <a:srgbClr val="334155"/>
                </a:solidFill>
                <a:latin typeface="Calibri"/>
              </a:rPr>
              <a:t>The system flags 'anomalous hydraulic consumption candidates for field audit', never legally accuses or fines consumers automatically.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Human-in-the-Loop: </a:t>
            </a:r>
            <a:r>
              <a:rPr b="0" sz="1100">
                <a:solidFill>
                  <a:srgbClr val="334155"/>
                </a:solidFill>
                <a:latin typeface="Calibri"/>
              </a:rPr>
              <a:t>Dispatched NWSDB officers must physically verify the illegal branch before enforcement actions or legal notices are issued.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Inspection Audit Trail: </a:t>
            </a:r>
            <a:r>
              <a:rPr b="0" sz="1100">
                <a:solidFill>
                  <a:srgbClr val="334155"/>
                </a:solidFill>
                <a:latin typeface="Calibri"/>
              </a:rPr>
              <a:t>All inspector verifications are logged in field_inspections_ledger.json, computing live Positive Predictive Value (PPV).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Candidate Retraining Trigger: </a:t>
            </a:r>
            <a:r>
              <a:rPr b="0" sz="1100">
                <a:solidFill>
                  <a:srgbClr val="334155"/>
                </a:solidFill>
                <a:latin typeface="Calibri"/>
              </a:rPr>
              <a:t>Every 10 verified field inspections trigger candidate batch extraction to retrain models on local ground truth.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029200" cy="45720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System Limitations &amp; Future Horizons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Hydraulic Calibration Sensitivity: </a:t>
            </a:r>
            <a:r>
              <a:rPr b="0" sz="1100">
                <a:solidFill>
                  <a:srgbClr val="334155"/>
                </a:solidFill>
                <a:latin typeface="Calibri"/>
              </a:rPr>
              <a:t>Residual accuracy relies on calibrated pipe Hazen-Williams C-factors; unmodeled tuberculation causes minor baseline drift.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Sparse Sensor Density: </a:t>
            </a:r>
            <a:r>
              <a:rPr b="0" sz="1100">
                <a:solidFill>
                  <a:srgbClr val="334155"/>
                </a:solidFill>
                <a:latin typeface="Calibri"/>
              </a:rPr>
              <a:t>6 monitored junctions require spatial interpolation; future work explores optimal multi-sensor placement algorithms.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LoRaWAN Integration: </a:t>
            </a:r>
            <a:r>
              <a:rPr b="0" sz="1100">
                <a:solidFill>
                  <a:srgbClr val="334155"/>
                </a:solidFill>
                <a:latin typeface="Calibri"/>
              </a:rPr>
              <a:t>Transition from simulated edge gateways to physical LoRaWAN concentrators with long-life LiFePO4 batteries.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Satellite Earth Observation: </a:t>
            </a:r>
            <a:r>
              <a:rPr b="0" sz="1100">
                <a:solidFill>
                  <a:srgbClr val="334155"/>
                </a:solidFill>
                <a:latin typeface="Calibri"/>
              </a:rPr>
              <a:t>Combining hydraulic head drops with radar soil moisture anomalies to detect concealed underground bypass excavations.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NWSDB WATERGUARD (COMPONENT 2) -- ORAL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401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12/12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Calibri"/>
              </a:defRPr>
            </a:pPr>
            <a:r>
              <a:t>Live Demonstration Script &amp; Oral Defense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National Water Supply and Drainage Board (NWSDB) | Kaduwela Water Supply Scheme (DMA 01 &amp; DMA 02) | Component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5029200" cy="45720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2-Minute Demonstration Script (src/scenario_runner.py)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Phase 1: Normal Baseline: </a:t>
            </a:r>
            <a:r>
              <a:rPr b="0" sz="1100">
                <a:solidFill>
                  <a:srgbClr val="334155"/>
                </a:solidFill>
                <a:latin typeface="Calibri"/>
              </a:rPr>
              <a:t>Run --scenario normal: Clean SCADA stream across DMA 01 &amp; 02; dashboard displays 100% green (Risk &lt; 20%).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Phase 2: 06:00 Refill Surge: </a:t>
            </a:r>
            <a:r>
              <a:rPr b="0" sz="1100">
                <a:solidFill>
                  <a:srgbClr val="334155"/>
                </a:solidFill>
                <a:latin typeface="Calibri"/>
              </a:rPr>
              <a:t>Run --scenario refill_surge: Massive transient line-filling surge; IWS dampening filter holds risk &lt; 45% (0 false alarms).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Phase 3: Unauthorized Theft: </a:t>
            </a:r>
            <a:r>
              <a:rPr b="0" sz="1100">
                <a:solidFill>
                  <a:srgbClr val="334155"/>
                </a:solidFill>
                <a:latin typeface="Calibri"/>
              </a:rPr>
              <a:t>Run --scenario bypass_theft: Unauthorized 0.06 LPS tap at J_100; risk spikes to 86.7%, node turns red, GPS coordinates &amp; alert dispatched.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Phase 4: C1 Cross-Validation: </a:t>
            </a:r>
            <a:r>
              <a:rPr b="0" sz="1100">
                <a:solidFill>
                  <a:srgbClr val="334155"/>
                </a:solidFill>
                <a:latin typeface="Calibri"/>
              </a:rPr>
              <a:t>Trigger C1 leak feedback: Risk score immediately drops -40% (reclassified to pipe burst repair squad).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029200" cy="4572000"/>
          </a:xfrm>
          <a:prstGeom prst="rect">
            <a:avLst/>
          </a:prstGeom>
          <a:noFill/>
        </p:spPr>
        <p:txBody>
          <a:bodyPr wrap="square" lIns="137160" rIns="137160" tIns="109728" bIns="10972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Core Research Contributions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First-of-its-Kind for IWS: </a:t>
            </a:r>
            <a:r>
              <a:rPr b="0" sz="1100">
                <a:solidFill>
                  <a:srgbClr val="334155"/>
                </a:solidFill>
                <a:latin typeface="Calibri"/>
              </a:rPr>
              <a:t>First digital twin surveillance platform designed specifically for intermittent water supply networks in the Global South.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Solved the Refill Dilemma: </a:t>
            </a:r>
            <a:r>
              <a:rPr b="0" sz="1100">
                <a:solidFill>
                  <a:srgbClr val="334155"/>
                </a:solidFill>
                <a:latin typeface="Calibri"/>
              </a:rPr>
              <a:t>Achieved 100% false alarm reduction during morning pipe-filling transients compared to static thresholding.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Multi-Component Interoperability: </a:t>
            </a:r>
            <a:r>
              <a:rPr b="0" sz="1100">
                <a:solidFill>
                  <a:srgbClr val="334155"/>
                </a:solidFill>
                <a:latin typeface="Calibri"/>
              </a:rPr>
              <a:t>Seamlessly connects with C1 (acoustic leaks), C3 (reservoir forecasts), and C4 (contamination risk).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00">
                <a:solidFill>
                  <a:srgbClr val="1E293B"/>
                </a:solidFill>
                <a:latin typeface="Calibri"/>
              </a:rPr>
              <a:t>•  Field-Deployable Platform: </a:t>
            </a:r>
            <a:r>
              <a:rPr b="0" sz="1100">
                <a:solidFill>
                  <a:srgbClr val="334155"/>
                </a:solidFill>
                <a:latin typeface="Calibri"/>
              </a:rPr>
              <a:t>Production Docker containers, sub-millisecond inference (0.0088 ms), and resilient edge store-and-forward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